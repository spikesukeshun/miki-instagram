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Hiragino Kaku Gothic Pro"/>
              </a:rPr>
              <a:t>Instagram インサイト分析レポート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2026年4月14日  |  全391投稿分析（ライブAPIデータ）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474720"/>
            <a:ext cx="57607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Hiragino Kaku Gothic Pro"/>
              </a:rPr>
              <a:t>MIKIのエステInstagramアカウント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アカウント概要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2026年4月14日時点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560320" cy="91440"/>
          </a:xfrm>
          <a:prstGeom prst="rect">
            <a:avLst/>
          </a:prstGeom>
          <a:solidFill>
            <a:srgbClr val="8B6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総投稿数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8B691A"/>
                </a:solidFill>
                <a:latin typeface="Hiragino Kaku Gothic Pro"/>
              </a:rPr>
              <a:t>391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37560" y="1371600"/>
            <a:ext cx="2560320" cy="9144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最高いいね数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8C5C"/>
                </a:solidFill>
                <a:latin typeface="Hiragino Kaku Gothic Pro"/>
              </a:rPr>
              <a:t>451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900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371600"/>
            <a:ext cx="2560320" cy="9144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6364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最高リーチ数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A6E9A"/>
                </a:solidFill>
                <a:latin typeface="Hiragino Kaku Gothic Pro"/>
              </a:rPr>
              <a:t>937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371600"/>
            <a:ext cx="25603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371600"/>
            <a:ext cx="2560320" cy="9144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600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最高保存数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1920240"/>
            <a:ext cx="2377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C9A96E"/>
                </a:solidFill>
                <a:latin typeface="Hiragino Kaku Gothic Pro"/>
              </a:rPr>
              <a:t>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974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Hiragino Kaku Gothic Pro"/>
              </a:rPr>
              <a:t>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47472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520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691A"/>
                </a:solidFill>
                <a:latin typeface="Hiragino Kaku Gothic Pro"/>
              </a:rPr>
              <a:t>📌 いいね最高投稿（2023-02-01）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352044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自己語り投稿「今日は誰も興味のない、自分語りです（笑）」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29768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3434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691A"/>
                </a:solidFill>
                <a:latin typeface="Hiragino Kaku Gothic Pro"/>
              </a:rPr>
              <a:t>📌 リーチ最高投稿（2024-06-18）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34340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プライベート投稿「久々のプライベート😊」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112471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663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8B691A"/>
                </a:solidFill>
                <a:latin typeface="Hiragino Kaku Gothic Pro"/>
              </a:rPr>
              <a:t>📌 保存最高投稿（2023-02-01）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66360"/>
            <a:ext cx="7680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同上の自己語り投稿（いいね・リーチ・保存すべてトップ）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テーマ別パフォーマンス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平均いいね数・投稿比率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ライフスタイル
・自己語り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41732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423160" y="1417320"/>
            <a:ext cx="5468112" cy="36576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8C5C"/>
                </a:solidFill>
                <a:latin typeface="Hiragino Kaku Gothic Pro"/>
              </a:rPr>
              <a:t>平均 29.9いいね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74投稿（19.1%）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46888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2468880"/>
            <a:ext cx="3712464" cy="36576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6E9A"/>
                </a:solidFill>
                <a:latin typeface="Hiragino Kaku Gothic Pro"/>
              </a:rPr>
              <a:t>平均 20.3いいね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30投稿（7.7%）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8328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ご褒美エステ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23160" y="352044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23160" y="3520440"/>
            <a:ext cx="3108960" cy="36576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E"/>
                </a:solidFill>
                <a:latin typeface="Hiragino Kaku Gothic Pro"/>
              </a:rPr>
              <a:t>平均 17.0いいね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7投稿（1.8%）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43484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メニュー・
サービス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457200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423160" y="4572000"/>
            <a:ext cx="2157984" cy="365760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4A4A"/>
                </a:solidFill>
                <a:latin typeface="Hiragino Kaku Gothic Pro"/>
              </a:rPr>
              <a:t>平均 11.8いいね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211投稿（54.0%）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8640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1C1C1C"/>
                </a:solidFill>
                <a:latin typeface="Hiragino Kaku Gothic Pro"/>
              </a:rPr>
              <a:t>未分類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23160" y="5623560"/>
            <a:ext cx="5486400" cy="36576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423160" y="5623560"/>
            <a:ext cx="3328416" cy="365760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0100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6B6B"/>
                </a:solidFill>
                <a:latin typeface="Hiragino Kaku Gothic Pro"/>
              </a:rPr>
              <a:t>平均 18.2いいね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5577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B6B6B"/>
                </a:solidFill>
                <a:latin typeface="Hiragino Kaku Gothic Pro"/>
              </a:rPr>
              <a:t>69投稿（17.6%）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166360"/>
            <a:ext cx="11247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257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91A"/>
                </a:solidFill>
                <a:latin typeface="Hiragino Kaku Gothic Pro"/>
              </a:rPr>
              <a:t>💡  KEY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Hiragino Kaku Gothic Pro"/>
              </a:rPr>
              <a:t>自己語り投稿のいいね平均はメニュー告知の 2.5倍。しかしメニュー告知が投稿全体の 54% を占める — 比率の見直しが急務。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コンテンツタイプ別パフォーマンス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8016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3474720" cy="109728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Hiragino Kaku Gothic Pro"/>
              </a:rPr>
              <a:t>🎬  リール動画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投稿数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4A8C5C"/>
                </a:solidFill>
                <a:latin typeface="Hiragino Kaku Gothic Pro"/>
              </a:rPr>
              <a:t>67件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全投稿の 17.1%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154679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4A8C5C"/>
                </a:solidFill>
                <a:latin typeface="Hiragino Kaku Gothic Pro"/>
              </a:rPr>
              <a:t>18.6件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128016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280160"/>
            <a:ext cx="3474720" cy="109728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Hiragino Kaku Gothic Pro"/>
              </a:rPr>
              <a:t>🖼  カルーセル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011680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8912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投稿数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C9A96E"/>
                </a:solidFill>
                <a:latin typeface="Hiragino Kaku Gothic Pro"/>
              </a:rPr>
              <a:t>260件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全投稿の 66.5%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3154679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C9A96E"/>
                </a:solidFill>
                <a:latin typeface="Hiragino Kaku Gothic Pro"/>
              </a:rPr>
              <a:t>17.8件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55280" y="1280160"/>
            <a:ext cx="347472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955280" y="1280160"/>
            <a:ext cx="3474720" cy="109728"/>
          </a:xfrm>
          <a:prstGeom prst="rect">
            <a:avLst/>
          </a:prstGeom>
          <a:solidFill>
            <a:srgbClr val="6B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38160" y="15087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C1C1C"/>
                </a:solidFill>
                <a:latin typeface="Hiragino Kaku Gothic Pro"/>
              </a:rPr>
              <a:t>📷  単体画像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2011680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0" y="2148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投稿数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60" y="23774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6B6B6B"/>
                </a:solidFill>
                <a:latin typeface="Hiragino Kaku Gothic Pro"/>
              </a:rPr>
              <a:t>64件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278892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B6B6B"/>
                </a:solidFill>
                <a:latin typeface="Hiragino Kaku Gothic Pro"/>
              </a:rPr>
              <a:t>全投稿の 16.4%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0" y="3154679"/>
            <a:ext cx="2926080" cy="25400"/>
          </a:xfrm>
          <a:prstGeom prst="rect">
            <a:avLst/>
          </a:prstGeom>
          <a:solidFill>
            <a:srgbClr val="E8E4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918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520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6B6B6B"/>
                </a:solidFill>
                <a:latin typeface="Hiragino Kaku Gothic Pro"/>
              </a:rPr>
              <a:t>12.6件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29200"/>
            <a:ext cx="11247120" cy="685800"/>
          </a:xfrm>
          <a:prstGeom prst="rect">
            <a:avLst/>
          </a:prstGeom>
          <a:solidFill>
            <a:srgbClr val="E8F5EE"/>
          </a:solidFill>
          <a:ln w="12700">
            <a:solidFill>
              <a:srgbClr val="4A8C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1023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A8C5C"/>
                </a:solidFill>
                <a:latin typeface="Hiragino Kaku Gothic Pro"/>
              </a:rPr>
              <a:t>📌  リールは現在67本（17%）と少ないが、平均いいねはカルーセルと同等以上。月1〜2本ペースで増やすとリーチ拡大が期待できる。ストーリーズの過去データはAPI上取得不可（24時間で消滅）。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歴代ベスト投稿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report_20260404.txt より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91440" cy="118872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80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8C5C"/>
                </a:solidFill>
                <a:latin typeface="Hiragino Kaku Gothic Pro"/>
              </a:rPr>
              <a:t>🥇  いいね 451件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2023-02-01  |  自己語り系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3444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「今日は誰も興味のない、自分語りです（笑）」
美容学校時代からのキャリアを語る長文投稿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4630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リーチ720人・保存14件も同時達成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60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514600"/>
            <a:ext cx="91440" cy="118872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A6E9A"/>
                </a:solidFill>
                <a:latin typeface="Hiragino Kaku Gothic Pro"/>
              </a:rPr>
              <a:t>🥈  いいね 378件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9718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2022-08-05  |  プライベート系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56032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「今さら…ほんとに今さらですが（笑）」
2年越しで2人だけの結婚式を挙げたエピソード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78892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リーチ744人・保存5件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84048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840480"/>
            <a:ext cx="91440" cy="118872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31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9A96E"/>
                </a:solidFill>
                <a:latin typeface="Hiragino Kaku Gothic Pro"/>
              </a:rPr>
              <a:t>👀  リーチ 937人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9768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2024-06-18  |  プライベート系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8620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「久々のプライベート😊」
近況報告＋施術スタイルのPR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411480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いいね39件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5166360"/>
            <a:ext cx="11430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5166360"/>
            <a:ext cx="91440" cy="1188720"/>
          </a:xfrm>
          <a:prstGeom prst="rect">
            <a:avLst/>
          </a:prstGeom>
          <a:solidFill>
            <a:srgbClr val="8B6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8B691A"/>
                </a:solidFill>
                <a:latin typeface="Hiragino Kaku Gothic Pro"/>
              </a:rPr>
              <a:t>🔖  保存 4件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56235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2022-04-19  |  美容情報系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212080"/>
            <a:ext cx="5669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Hiragino Kaku Gothic Pro"/>
              </a:rPr>
              <a:t>ヒト幹細胞培養液スキンケアの詳細解説
「その中でも私は〜」と具体的な体験を交えた情報提供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54406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6B6B"/>
                </a:solidFill>
                <a:latin typeface="Hiragino Kaku Gothic Pro"/>
              </a:rPr>
              <a:t>📎 リーチ40人（フォロワー限定だが保存率高）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直近10件のトレンド（2026年3月〜4月）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get_recent_insights.py 実行結果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9144000" cy="347472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日付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2344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タイプ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54680" y="12344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テーマ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いいね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5236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保存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123444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C9A96E"/>
                </a:solidFill>
                <a:latin typeface="Hiragino Kaku Gothic Pro"/>
              </a:rPr>
              <a:t>リーチ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536192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600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83080" y="160020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16002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未分類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16002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1984248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04825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204825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0482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未分類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9640" y="204825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2432304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49631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249631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249631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80" y="2496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2496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249631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2880360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294436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83080" y="294436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294436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6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9443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3328416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39242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83080" y="339242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339242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メニュー・サービス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5236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39242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3776472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38404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04-03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783080" y="38404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154680" y="38404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80" y="3840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52360" y="3840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384048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4224528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288536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03-31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783080" y="4288536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154680" y="428853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メニュー・サービス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80" y="4288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8C5C"/>
                </a:solidFill>
                <a:latin typeface="Hiragino Kaku Gothic Pro"/>
              </a:rPr>
              <a:t>11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52360" y="4288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49640" y="428853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4672584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4736592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03-26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783080" y="4736592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単体画像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154680" y="4736592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80" y="4736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452360" y="4736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549640" y="47365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5120640"/>
            <a:ext cx="9144000" cy="4206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518464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03-17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83080" y="5184648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54680" y="518464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ライフスタイル・自己語り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355080" y="5184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452360" y="5184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549640" y="518464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568696"/>
            <a:ext cx="9144000" cy="420624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02920" y="5632704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03-13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83080" y="5632704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カルーセル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154680" y="5632704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C1C1C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55080" y="5632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4A8C5C"/>
                </a:solidFill>
                <a:latin typeface="Hiragino Kaku Gothic Pro"/>
              </a:rPr>
              <a:t>11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452360" y="5632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549640" y="563270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–</a:t>
            </a:r>
          </a:p>
        </p:txBody>
      </p:sp>
      <p:sp>
        <p:nvSpPr>
          <p:cNvPr id="82" name="Rectangle 81"/>
          <p:cNvSpPr/>
          <p:nvPr/>
        </p:nvSpPr>
        <p:spPr>
          <a:xfrm>
            <a:off x="9875520" y="1188720"/>
            <a:ext cx="21031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C9A9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12680" y="132588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8B691A"/>
                </a:solidFill>
                <a:latin typeface="Hiragino Kaku Gothic Pro"/>
              </a:rPr>
              <a:t>直近サマリー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012680" y="1691640"/>
            <a:ext cx="182880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966960" y="182880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平均いいね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966960" y="208483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7.2件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96696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最多テーマ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304495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自己語り
4/10件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966960" y="37490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ブライダル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966960" y="400507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2/10件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966960" y="47091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B6B6B"/>
                </a:solidFill>
                <a:latin typeface="Hiragino Kaku Gothic Pro"/>
              </a:rPr>
              <a:t>メニュー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966960" y="4965192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1C1C1C"/>
                </a:solidFill>
                <a:latin typeface="Hiragino Kaku Gothic Pro"/>
              </a:rPr>
              <a:t>2/10件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フォロワーのエリア（都市別）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320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audience_city / lifetime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Hiragino Kaku Gothic Pro"/>
              </a:rPr>
              <a:t>⚠️  エリアデータを取得できませんでした
instagram_manage_insights 権限が必要 / アクセストークン要確認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47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91A"/>
                </a:solidFill>
                <a:latin typeface="Hiragino Kaku Gothic Pro"/>
              </a:rPr>
              <a:t>💡  上位エリアに合わせた投稿時間・コンテンツの地域特性を考慮する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フォロワーの年齢層・性別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320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audience_gender_age / lifetime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Hiragino Kaku Gothic Pro"/>
              </a:rPr>
              <a:t>⚠️  年齢層データを取得できませんでした
instagram_manage_insights 権限が必要 / アクセストークン要確認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47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91A"/>
                </a:solidFill>
                <a:latin typeface="Hiragino Kaku Gothic Pro"/>
              </a:rPr>
              <a:t>💡  メインターゲット層に合わせたコンテンツ・言葉づかいを最適化する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新規フォロワーの推移（直近30日）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320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C9A96E"/>
                </a:solidFill>
                <a:latin typeface="Hiragino Kaku Gothic Pro"/>
              </a:rPr>
              <a:t>follower_count /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6B6B"/>
                </a:solidFill>
                <a:latin typeface="Hiragino Kaku Gothic Pro"/>
              </a:rPr>
              <a:t>⚠️  フォロワー推移データを取得できませんでした
instagram_manage_insights 権限が必要 / アクセストークン要確認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309360"/>
            <a:ext cx="11247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691A"/>
                </a:solidFill>
                <a:latin typeface="Hiragino Kaku Gothic Pro"/>
              </a:rPr>
              <a:t>💡  投稿日とフォロワー増加の相関を確認し、反応の良い曜日・時間帯を特定する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C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Hiragino Kaku Gothic Pro"/>
              </a:rPr>
              <a:t>戦略的提言 — 次の投稿に活かすポイント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02920" cy="1600200"/>
          </a:xfrm>
          <a:prstGeom prst="rect">
            <a:avLst/>
          </a:prstGeom>
          <a:solidFill>
            <a:srgbClr val="4A8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2801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8C5C"/>
                </a:solidFill>
                <a:latin typeface="Hiragino Kaku Gothic Pro"/>
              </a:rPr>
              <a:t>自己語り投稿を月2〜3本必ず入れる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いいね平均 29.9件（メニュー告知の 2.5倍）。
MIKIのキャリア・体験・価値観を語る長文が最も反応が高い。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18872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188720"/>
            <a:ext cx="502920" cy="1600200"/>
          </a:xfrm>
          <a:prstGeom prst="rect">
            <a:avLst/>
          </a:prstGeom>
          <a:solidFill>
            <a:srgbClr val="B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6916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5160" y="128016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54A4A"/>
                </a:solidFill>
                <a:latin typeface="Hiragino Kaku Gothic Pro"/>
              </a:rPr>
              <a:t>メニュー告知（現在54%）の比率を 40% 以下に下げる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7830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最多投稿なのに最低エンゲージメント（平均いいね 11.8件）。
目安: 自己語り 30% / ブライダル 20% / メニュー 40% / 他 10%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502920" cy="1600200"/>
          </a:xfrm>
          <a:prstGeom prst="rect">
            <a:avLst/>
          </a:prstGeom>
          <a:solidFill>
            <a:srgbClr val="4A6E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175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4A6E9A"/>
                </a:solidFill>
                <a:latin typeface="Hiragino Kaku Gothic Pro"/>
              </a:rPr>
              <a:t>プライベート投稿を月1本入れてリーチを稼ぐ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204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リーチ最高 937人 はシンプルな近況報告投稿。
フォロワー外へのリーチ拡大に有効。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92608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2926080"/>
            <a:ext cx="502920" cy="1600200"/>
          </a:xfrm>
          <a:prstGeom prst="rect">
            <a:avLst/>
          </a:prstGeom>
          <a:solidFill>
            <a:srgbClr val="8B69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5160" y="301752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8B691A"/>
                </a:solidFill>
                <a:latin typeface="Hiragino Kaku Gothic Pro"/>
              </a:rPr>
              <a:t>リールを月1〜2本に増やす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5204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現在67本（17%）。平均いいねはカルーセル以上。
ショートリール（30〜60秒）で新規フォロワー獲得を狙う。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663440"/>
            <a:ext cx="5760720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4663440"/>
            <a:ext cx="502920" cy="16002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51663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Hiragino Kaku Gothic Pro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754880"/>
            <a:ext cx="5074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9A96E"/>
                </a:solidFill>
                <a:latin typeface="Hiragino Kaku Gothic Pro"/>
              </a:rPr>
              <a:t>キャプション冒頭にキーワードを入れる（SEO対策）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25780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1C1C"/>
                </a:solidFill>
                <a:latin typeface="Hiragino Kaku Gothic Pro"/>
              </a:rPr>
              <a:t>1〜2行目で「30代 肌くすみ」等のテーマキーワードを自然に記述。
3行目から「MIKIです。」で本文スタート。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Hiragino Kaku Gothic Pro"/>
              </a:rPr>
              <a:t>次回投稿 チェックリスト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1005840"/>
            <a:ext cx="6675120" cy="254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389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371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キャプション 1〜2行目に検索キーワードが自然に入っているか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945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042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冒頭が「⭐️閲覧ありがとう」などのテンプレ告知になっていないか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1089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18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MIKIの体験・感情・視点が伝わる書き出しになっているか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40233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133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カルーセルのスライドに「保存したくなる情報」があるか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49377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0474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スライド末尾 2枚（slide8 / slide7）は自動追加されているか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0" y="12801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13898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13716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絵文字の数は 3〜5個の範囲に収まっているか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1945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23042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2860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CTA（DM受付・初回 20%OFF）が末尾に明記されているか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0" y="31089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32186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3200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今月の自己語り投稿は済んでいるか（月 2〜3本ペース）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4023360"/>
            <a:ext cx="5303520" cy="731520"/>
          </a:xfrm>
          <a:prstGeom prst="rect">
            <a:avLst/>
          </a:prstGeom>
          <a:solidFill>
            <a:srgbClr val="282828"/>
          </a:solidFill>
          <a:ln w="9525">
            <a:solidFill>
              <a:srgbClr val="8B69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75120" y="413308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9A96E"/>
                </a:solidFill>
                <a:latin typeface="Hiragino Kaku Gothic Pro"/>
              </a:rPr>
              <a:t>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41148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Hiragino Kaku Gothic Pro"/>
              </a:rPr>
              <a:t>スケジュール前に get_recent_insights.py を実行したか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